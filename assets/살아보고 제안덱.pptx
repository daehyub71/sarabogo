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4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5E9687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731520"/>
            <a:ext cx="3840480" cy="3840480"/>
          </a:xfrm>
          <a:prstGeom prst="ellipse">
            <a:avLst/>
          </a:prstGeom>
          <a:solidFill>
            <a:srgbClr val="84B59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4023360"/>
            <a:ext cx="4206240" cy="4206240"/>
          </a:xfrm>
          <a:prstGeom prst="ellipse">
            <a:avLst/>
          </a:prstGeom>
          <a:solidFill>
            <a:srgbClr val="50808E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관광데이터 활용 공모전 · 웹·앱 구현 부문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살아본 사람에게 묻고, </a:t>
            </a:r>
            <a:pPr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나에게 맞게 떠난다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검증된 후기와 한국관광공사 데이터로, 시니어도 안심하고 한 달을 사는 지역살이 플랫폼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89204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029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지자체 지원 프로그램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51560" y="5358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입구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489204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5029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관광공사 OpenAPI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26280" y="5358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생활·의료 데이터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0" y="4892040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01000" y="50292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 후기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001000" y="535838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신뢰 자산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한국관광공사 X 성균관대학교 AI중심대학사업단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· 왜 지금인가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지원금 공고는 넘치는데, ‘진짜 살아본 이야기’가 없다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93976"/>
            <a:ext cx="685800" cy="68580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" y="227228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00253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지방소멸이라는 국가 의제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38658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지자체마다 한달살기에 예산을 쏟지만 정보가 파편화돼, 여유 있는 은퇴 시니어조차 ‘어디로, 무엇을 보고’ 결정할지 막막하다.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46120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557016"/>
            <a:ext cx="685800" cy="68580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988" y="373532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46557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안 되는 후기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84962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블로그·유튜브 후기는 흩어져 있어 비교·검증이 어렵고, 광고인지 진짜 경험인지 구분하기 힘들다.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709160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020056"/>
            <a:ext cx="685800" cy="68580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51983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2861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재조합되지 않은 관광 데이터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12664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관광공사는 방대한 OpenAPI를 열어뒀지만, 장기체류자가 진짜 궁금한 ‘의료·생활 인프라·한 달 예산’ 관점으로 재편된 서비스가 없다.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E4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486400" cy="5486400"/>
          </a:xfrm>
          <a:prstGeom prst="ellipse">
            <a:avLst/>
          </a:prstGeom>
          <a:solidFill>
            <a:srgbClr val="5E9687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· 한 줄 정의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지자체 지원 프로그램을 </a:t>
            </a:r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‘입구’</a:t>
            </a:r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로,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관광공사 데이터로 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‘진짜 한 달’</a:t>
            </a:r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을 설계한다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BFB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3886200"/>
            <a:ext cx="731520" cy="73152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195" y="407639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4041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4754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시니어의 눈으로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재편집된 지역 데이터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5532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병원·약국·마트·교통·평지 여부를 관광공사 API로 지도에 표시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434840" y="361188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BFB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3886200"/>
            <a:ext cx="731520" cy="73152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075" y="407639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4041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754880" y="4754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구조화된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후기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754880" y="5532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의료접근성·한달실비·외로움·재방문의사를 별점·태그로 비교 가능하게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46720" y="3611880"/>
            <a:ext cx="3429000" cy="2651760"/>
          </a:xfrm>
          <a:prstGeom prst="roundRect">
            <a:avLst>
              <a:gd name="adj" fmla="val 2414"/>
            </a:avLst>
          </a:prstGeom>
          <a:solidFill>
            <a:srgbClr val="FBFB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66760" y="3886200"/>
            <a:ext cx="731520" cy="73152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407639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281160" y="404164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366760" y="47548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 반영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 코스 추천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366760" y="5532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후기+관광정보를 근거로 주차별 코스 생성, 근거 후기 함께 노출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· 핵심 사용자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국민 대상, 주 타겟은 ‘은퇴 시니어 장기체류자’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868680" cy="86868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4537" y="22375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페르소나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김정숙 · 63세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은퇴 교사 · 대전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2062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“죽기 전 다른 지역에서 한 번쯤 살아보고 싶다.” 남편 건강 탓에 병원 접근성이 최대 관심. 복잡하면 바로 이탈.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169164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2011680"/>
            <a:ext cx="868680" cy="86868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9297" y="2237537"/>
            <a:ext cx="416966" cy="41696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6344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얼리어답터 시니어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66344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박영호 · 58세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466344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은퇴 준비 · 부산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663440" y="42062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낚시·등산 취미. ‘저렴하게 한 달 살아보고 괜찮으면 정착’. 한 달 총비용에 민감, 후기를 꼼꼼히 읽고 직접 남길 의향.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138160" y="1691640"/>
            <a:ext cx="3611880" cy="4297680"/>
          </a:xfrm>
          <a:prstGeom prst="roundRect">
            <a:avLst>
              <a:gd name="adj" fmla="val 1772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58200" y="2011680"/>
            <a:ext cx="868680" cy="86868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4057" y="2237537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5820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보조 타겟 · 전파자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458200" y="3383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이수민 · 34세</a:t>
            </a:r>
            <a:endParaRPr lang="en-US" sz="2000" dirty="0"/>
          </a:p>
        </p:txBody>
      </p:sp>
      <p:sp>
        <p:nvSpPr>
          <p:cNvPr id="23" name="Text 18"/>
          <p:cNvSpPr/>
          <p:nvPr/>
        </p:nvSpPr>
        <p:spPr>
          <a:xfrm>
            <a:off x="845820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프리랜서 · 서울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458200" y="4206240"/>
            <a:ext cx="2971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워케이션 겸 지역 탐색. 시니어 부모님께 이 서비스를 소개하는 확산 고리 역할.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· 김정숙 씨의 여정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 → 탐색 → 신뢰 → 결정 → 기여의 선순환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94560" cy="39319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61872" y="2103120"/>
            <a:ext cx="768096" cy="768096"/>
          </a:xfrm>
          <a:prstGeom prst="ellipse">
            <a:avLst/>
          </a:prstGeom>
          <a:solidFill>
            <a:srgbClr val="2E4B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295144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084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발견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68096" y="3474720"/>
            <a:ext cx="1755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자녀가 보낸 링크로 진입. 복잡한 가입 없이 ‘바다 근처 / 병원 가까운 곳 / 저예산’ 큰 버튼 중 하나를 누른다.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633472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788920" y="1828800"/>
            <a:ext cx="2194560" cy="39319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02152" y="2103120"/>
            <a:ext cx="768096" cy="768096"/>
          </a:xfrm>
          <a:prstGeom prst="ellipse">
            <a:avLst/>
          </a:prstGeom>
          <a:solidFill>
            <a:srgbClr val="2E4B4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888" y="2295144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26080" y="2084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718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008376" y="3474720"/>
            <a:ext cx="1755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카드에 관광지가 아닌 ‘병원 차로 8분 · 한달 82만원 · 후기 12건 ★4.3’이 먼저 보인다.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873752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5029200" y="1828800"/>
            <a:ext cx="2194560" cy="39319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742432" y="2103120"/>
            <a:ext cx="768096" cy="768096"/>
          </a:xfrm>
          <a:prstGeom prst="ellipse">
            <a:avLst/>
          </a:prstGeom>
          <a:solidFill>
            <a:srgbClr val="2E4B4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6168" y="2295144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6360" y="2084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21208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5248656" y="3474720"/>
            <a:ext cx="1755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지도에 병원·약국·마트가 뜨고, 먼저 다녀온 사람들의 구조화 후기가 항목별로 정리돼 안심한다.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7114032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25" name="Shape 20"/>
          <p:cNvSpPr/>
          <p:nvPr/>
        </p:nvSpPr>
        <p:spPr>
          <a:xfrm>
            <a:off x="7269480" y="1828800"/>
            <a:ext cx="2194560" cy="39319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982712" y="2103120"/>
            <a:ext cx="768096" cy="768096"/>
          </a:xfrm>
          <a:prstGeom prst="ellipse">
            <a:avLst/>
          </a:prstGeom>
          <a:solidFill>
            <a:srgbClr val="2E4B47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6448" y="2295144"/>
            <a:ext cx="420624" cy="42062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06640" y="2084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4523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7488936" y="3474720"/>
            <a:ext cx="1755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‘맞춤 한 달 코스 만들기’로 예산·건강·관심사를 고르면 주차별 코스가 근거 후기와 함께 나온다. 자녀에게 카톡 공유.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354312" y="3566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32" name="Shape 26"/>
          <p:cNvSpPr/>
          <p:nvPr/>
        </p:nvSpPr>
        <p:spPr>
          <a:xfrm>
            <a:off x="9509760" y="1828800"/>
            <a:ext cx="2194560" cy="3931920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222992" y="2103120"/>
            <a:ext cx="768096" cy="768096"/>
          </a:xfrm>
          <a:prstGeom prst="ellipse">
            <a:avLst/>
          </a:prstGeom>
          <a:solidFill>
            <a:srgbClr val="2E4B47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2295144"/>
            <a:ext cx="420624" cy="42062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46920" y="208483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69264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기여</a:t>
            </a:r>
            <a:endParaRPr lang="en-US" sz="1700" dirty="0"/>
          </a:p>
        </p:txBody>
      </p:sp>
      <p:sp>
        <p:nvSpPr>
          <p:cNvPr id="37" name="Text 30"/>
          <p:cNvSpPr/>
          <p:nvPr/>
        </p:nvSpPr>
        <p:spPr>
          <a:xfrm>
            <a:off x="9729216" y="3474720"/>
            <a:ext cx="1755648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달을 살고 돌아와 5분짜리 별점 후기를 남긴다. 그 후기가 다음 김정숙을 돕는다.</a:t>
            </a:r>
            <a:endParaRPr lang="en-US" sz="1150" dirty="0"/>
          </a:p>
        </p:txBody>
      </p:sp>
      <p:sp>
        <p:nvSpPr>
          <p:cNvPr id="38" name="Text 3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 · 차별점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데이터, 다른 질문 — ‘여기서 살 수 있을까’에 답한다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66544"/>
            <a:ext cx="713232" cy="713232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120" y="2251984"/>
            <a:ext cx="342351" cy="342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7510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시니어의 눈으로 재편집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828800" y="2395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남들이 관광지·맛집을 보여줄 때, 우리는 같은 OpenAPI로 병원·약국·마트·대중교통·평지 여부를 먼저 보여준다. ‘한 달 살 수 있는가’의 관점.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264408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593592"/>
            <a:ext cx="713232" cy="713232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120" y="3779032"/>
            <a:ext cx="342351" cy="3423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0215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구조화된 신뢰 후기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828800" y="392277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자유서술이 아니라 시니어가 궁금한 항목을 별점화: 의료접근성·한달실비·외로움/커뮤니티·교통편의·재방문의사. 비교 가능한 후기 자산.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791456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120640"/>
            <a:ext cx="713232" cy="713232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120" y="5306080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502920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후기 반영 맞춤 추천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828800" y="544982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관광정보만 짜깁기하지 않고, 실제 후기를 근거로 코스를 제안. 추천마다 ‘근거 후기’를 함께 노출해 환각을 줄이고 신뢰를 높인다.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· 경쟁 지형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‘한달살러’가 못 하는 곳을 정확히 잡는다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663440"/>
                <a:gridCol w="46634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한달살러 (경쟁)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살아보고 (우리)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968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지원 공고 집약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4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체류 설계 + 검증 후기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후기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준비 중 (사실상 없음)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4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구조화 후기 = 1차 무기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지자체 공고 수집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4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관광공사 OpenAPI (생활·의료)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타겟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청년·디지털노마드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4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시니어 장기체류자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지원금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6E7B7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목적지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E4B4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입구 (수단)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2E4B4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5650992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55321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심사 방어 논리: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“경쟁이 아니라 시장을 완성하는 다음 조각.” 한달살러가 잘 푼 공고 탐색의 뒷단(체류·후기·생활정보)을 관광공사 데이터로 채운다.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· 데이터 3층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공모 요건(OpenAPI 필수)을 핵심 가치로 충족한다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84832"/>
            <a:ext cx="694944" cy="694944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365" y="2265517"/>
            <a:ext cx="333573" cy="3335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842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· 지원 프로그램 데이터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35000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차별화 입구 · 자체 수집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28800" y="2633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공고는 API가 없어 반자동 수집. MVP는 주요 지자체 10~20곳 수기 정제 시드 DB. 필드: 지역·모집기간·체류기간·지원내용·자격·SNS과제·신청링크.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246120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68680" y="3547872"/>
            <a:ext cx="694944" cy="694944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65" y="3728557"/>
            <a:ext cx="333573" cy="3335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34472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· 체류·생활 데이터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1828800" y="381304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가치 · 관광공사 OpenAPI 필수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828800" y="40965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지역별 관광지·숙박·축제·병원 인접·생활 인프라를 시니어 관점으로 재편집. 이 층이 공모 요건을 충족시키는 심장부.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48640" y="4709160"/>
            <a:ext cx="110642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8680" y="5010912"/>
            <a:ext cx="694944" cy="694944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365" y="5191597"/>
            <a:ext cx="333573" cy="3335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28800" y="49103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· 후기 데이터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1828800" y="5276088"/>
            <a:ext cx="9509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 자산 · 자체 생성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828800" y="555955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 후기 + 콜드스타트 시딩. 이용이 쌓일수록 ‘어느 지역이 시니어에게 통하는가’라는 새로운 관광데이터를 생성.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· 기능 범위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2~3인 리소스 현실선: MVP 4개를 깊게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93976"/>
            <a:ext cx="822960" cy="82296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307946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탐색 지도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74520" y="244144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OpenAPI를 시니어 지표(의료·생활·평지)로 재편집해 지도+카드로 표시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4406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4808" y="2093976"/>
            <a:ext cx="822960" cy="82296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8" y="2307946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98080" y="2057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 후기 시스템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7498080" y="244144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항목별 별점·태그·서술 + 콜드스타트용 시딩 데이터 선탑재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4406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1248" y="3694176"/>
            <a:ext cx="822960" cy="82296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8" y="3908146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7452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기반 맞춤 추천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74520" y="404164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후기+관광데이터를 근거로 주차별 코스 생성, 근거 노출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383280"/>
            <a:ext cx="5440680" cy="1444752"/>
          </a:xfrm>
          <a:prstGeom prst="roundRect">
            <a:avLst>
              <a:gd name="adj" fmla="val 3797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4808" y="3694176"/>
            <a:ext cx="822960" cy="82296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8" y="3908146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98080" y="36576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카톡 공유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7498080" y="4041648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시니어가 자녀·친구에게 결과를 보내는 전파 고리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5029200"/>
            <a:ext cx="11064240" cy="1234440"/>
          </a:xfrm>
          <a:prstGeom prst="roundRect">
            <a:avLst>
              <a:gd name="adj" fmla="val 4444"/>
            </a:avLst>
          </a:prstGeom>
          <a:solidFill>
            <a:srgbClr val="EDF4F0"/>
          </a:solidFill>
          <a:ln/>
        </p:spPr>
      </p:sp>
      <p:sp>
        <p:nvSpPr>
          <p:cNvPr id="25" name="Text 19"/>
          <p:cNvSpPr/>
          <p:nvPr/>
        </p:nvSpPr>
        <p:spPr>
          <a:xfrm>
            <a:off x="822960" y="51663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(로드맵으로만 제시 — 구현 부담 없이 확장성 점수)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22960" y="55321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지자체 프로그램 실시간 모집 연동 · 원스톱 신청  |  한달살기 총비용 자동 계산기  |  같은 시기·지역 살이族 매칭  |  지자체용 인사이트 대시보드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E4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108960"/>
            <a:ext cx="5486400" cy="5486400"/>
          </a:xfrm>
          <a:prstGeom prst="ellipse">
            <a:avLst/>
          </a:prstGeom>
          <a:solidFill>
            <a:srgbClr val="50808E">
              <a:alpha val="16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→ STRENGTH · 콜드스타트 해법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‘런칭 첫날에도 비어있지 않은 커뮤니티’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 커뮤니티의 최대 약점(초기 공백)을 완성도의 증거로 뒤집는다.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BFB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43000" y="2788920"/>
            <a:ext cx="777240" cy="77724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082" y="2991002"/>
            <a:ext cx="373075" cy="37307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3703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체험 아카이브 시딩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14300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지자체 참가자의 공개 후기·수기·영상을 정제해 초기 후기 자산으로 선탑재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34840" y="251460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BFB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788920"/>
            <a:ext cx="777240" cy="77724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962" y="2991002"/>
            <a:ext cx="373075" cy="37307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54880" y="3703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에디터 추천 코스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5488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데이터로 ‘에디터 추천 한 달 코스’를 미리 만들어 빈 화면을 없앤다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046720" y="251460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BFB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66760" y="2788920"/>
            <a:ext cx="777240" cy="777240"/>
          </a:xfrm>
          <a:prstGeom prst="ellipse">
            <a:avLst/>
          </a:prstGeom>
          <a:solidFill>
            <a:srgbClr val="F4F1EA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8842" y="2991002"/>
            <a:ext cx="373075" cy="37307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66760" y="37033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5분 구조화 후기 폼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366760" y="43891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별점·태그 중심으로 설계해 시니어도 5분이면 후기 작성, 초기 참여 장벽 최소화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PT에서 “콜드스타트를 이렇게 해결했다”로 제시하면 오히려 가점 요소가 된다.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· 기술 구조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단순할수록 방어하기 쉽다 — Vercel + Supabase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25400">
            <a:solidFill>
              <a:srgbClr val="84B59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/ Vercel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프론트엔드 + API Routes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우선. LLM 추천은 API Route에서 GPT/Claude 직접 호출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50208" y="2697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25400">
            <a:solidFill>
              <a:srgbClr val="5E968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200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E96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· 인증 · 스토리지 · 실시간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0" y="32004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후기·프로그램·사용자 데이터. 하나로 다 커버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699248" y="26974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2900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25400">
            <a:solidFill>
              <a:srgbClr val="50808E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21040" y="20848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Functions + Cron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2104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OpenAPI 야간 배치 수집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32004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무거운 수집·정제를 Cloud Run 없이 처리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480560"/>
            <a:ext cx="11064240" cy="1691640"/>
          </a:xfrm>
          <a:prstGeom prst="roundRect">
            <a:avLst>
              <a:gd name="adj" fmla="val 3243"/>
            </a:avLst>
          </a:prstGeom>
          <a:solidFill>
            <a:srgbClr val="FFF6E5"/>
          </a:solidFill>
          <a:ln w="12700">
            <a:solidFill>
              <a:srgbClr val="D9A441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754880"/>
            <a:ext cx="457200" cy="4572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50876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결정: Cloud Run 제외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508760" y="5074920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2~3인 규모에서 인프라를 하나 더 관리하는 건 순손실. 특별한 이유가 없으면 스택은 심플하게. 심사에서 ‘왜 Cloud Run?’이라는 질문을 아예 만들지 않는 것이 방어에 유리하다. 무거운 배치는 Supabase Edge Functions로 충분히 대체된다.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ROADMAP · 지역 살리기와 일정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338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소비만 하지 않고, 새로운 관광데이터를 생성한다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2E4B47"/>
          </a:solidFill>
          <a:ln/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2029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지역 살리기 선순환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후기·조회·저장 데이터 축적</a:t>
            </a:r>
            <a:endParaRPr lang="en-US" sz="130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‘어느 지역이 시니어에게 통하는가’ 인사이트</a:t>
            </a:r>
            <a:endParaRPr lang="en-US" sz="130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지자체엔 정책 피드백, 이용자엔 검증된 선택지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173736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01168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2029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공모 취지 정조준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537960" y="260604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관광공사 OpenAPI 필수 활용 요건 충족</a:t>
            </a:r>
            <a:endParaRPr lang="en-US" sz="130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‘데이터 가치를 넘어 서비스로 실현’ 슬로건 부합</a:t>
            </a:r>
            <a:endParaRPr lang="en-US" sz="1300" dirty="0"/>
          </a:p>
          <a:p>
            <a:pPr marL="190500" indent="-190500">
              <a:lnSpc>
                <a:spcPct val="125000"/>
              </a:lnSpc>
              <a:buSzPct val="100000"/>
              <a:buChar char="•"/>
            </a:pPr>
            <a:r>
              <a:rPr lang="en-US" sz="13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지방소멸 대응 + 관계인구 유입이라는 정책 코드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4251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공모 일정 정렬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548640" y="47091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731520" y="4864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 말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31520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예비심사 · OT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31520" y="5623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확정, 시드 DB 착수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3246120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4"/>
          <p:cNvSpPr/>
          <p:nvPr/>
        </p:nvSpPr>
        <p:spPr>
          <a:xfrm>
            <a:off x="3319272" y="47091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EDF4F0"/>
          </a:solidFill>
          <a:ln w="25400">
            <a:solidFill>
              <a:srgbClr val="5E9687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3502152" y="4864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 말~9월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3502152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개발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02152" y="5623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4기능 + 콜드스타트 시딩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016752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6089904" y="47091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272784" y="4864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10월 중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6272784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1차·최종 심사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272784" y="5623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심사 → PT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8787384" y="51206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4"/>
          <p:cNvSpPr/>
          <p:nvPr/>
        </p:nvSpPr>
        <p:spPr>
          <a:xfrm>
            <a:off x="8860536" y="470916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DE3DF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9043416" y="486460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4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11월 중</a:t>
            </a:r>
            <a:endParaRPr lang="en-US" sz="1500" dirty="0"/>
          </a:p>
        </p:txBody>
      </p:sp>
      <p:sp>
        <p:nvSpPr>
          <p:cNvPr id="30" name="Text 26"/>
          <p:cNvSpPr/>
          <p:nvPr/>
        </p:nvSpPr>
        <p:spPr>
          <a:xfrm>
            <a:off x="9043416" y="5257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0808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시상식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9043416" y="5623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7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E4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943600" cy="5943600"/>
          </a:xfrm>
          <a:prstGeom prst="ellipse">
            <a:avLst/>
          </a:prstGeom>
          <a:solidFill>
            <a:srgbClr val="5E9687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291840"/>
            <a:ext cx="5486400" cy="5486400"/>
          </a:xfrm>
          <a:prstGeom prst="ellipse">
            <a:avLst/>
          </a:prstGeom>
          <a:solidFill>
            <a:srgbClr val="84B59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“여행앱은 ‘어디 갈까’를 답하지만,
</a:t>
            </a:r>
            <a:pPr indent="0" marL="0">
              <a:lnSpc>
                <a:spcPct val="120000"/>
              </a:lnSpc>
              <a:buNone/>
            </a:pPr>
            <a:r>
              <a:rPr lang="en-US" sz="2400" b="1" dirty="0">
                <a:solidFill>
                  <a:srgbClr val="D9A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살아보고는 ‘여기서 살 수 있을까’를 답한다.”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937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4B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관광데이터 활용 공모전 · 웹·앱 구현 부문 제안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살아보고 - 관광데이터 활용 공모전 제안</dc:title>
  <dc:subject>PptxGenJS Presentation</dc:subject>
  <dc:creator>살아보고 팀</dc:creator>
  <cp:lastModifiedBy>살아보고 팀</cp:lastModifiedBy>
  <cp:revision>1</cp:revision>
  <dcterms:created xsi:type="dcterms:W3CDTF">2026-07-09T05:09:37Z</dcterms:created>
  <dcterms:modified xsi:type="dcterms:W3CDTF">2026-07-09T05:09:37Z</dcterms:modified>
</cp:coreProperties>
</file>